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9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57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6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32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6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61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6858000"/>
          </a:xfrm>
          <a:solidFill>
            <a:schemeClr val="tx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38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9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19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71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2277A86-E003-4FDD-8A2B-ED28DC1E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157704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3" y="457200"/>
            <a:ext cx="3968495" cy="2021545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Autofit/>
          </a:bodyPr>
          <a:lstStyle/>
          <a:p>
            <a:r>
              <a:rPr lang="es-ES" sz="1600" dirty="0">
                <a:solidFill>
                  <a:srgbClr val="262626"/>
                </a:solidFill>
              </a:rPr>
              <a:t>Predicción de Eficiencia Presupuestaria en Argentina mediante Machine </a:t>
            </a:r>
            <a:r>
              <a:rPr lang="es-ES" sz="1600" dirty="0" err="1">
                <a:solidFill>
                  <a:srgbClr val="262626"/>
                </a:solidFill>
              </a:rPr>
              <a:t>Learning</a:t>
            </a:r>
            <a:br>
              <a:rPr lang="es-ES" sz="1600" dirty="0">
                <a:solidFill>
                  <a:srgbClr val="262626"/>
                </a:solidFill>
              </a:rPr>
            </a:br>
            <a:br>
              <a:rPr lang="es-ES" sz="1600" dirty="0">
                <a:solidFill>
                  <a:srgbClr val="262626"/>
                </a:solidFill>
              </a:rPr>
            </a:br>
            <a:br>
              <a:rPr lang="es-ES" sz="1600" dirty="0">
                <a:solidFill>
                  <a:srgbClr val="262626"/>
                </a:solidFill>
              </a:rPr>
            </a:br>
            <a:r>
              <a:rPr lang="es-ES" sz="1600" dirty="0">
                <a:solidFill>
                  <a:srgbClr val="262626"/>
                </a:solidFill>
              </a:rPr>
              <a:t>Curso </a:t>
            </a:r>
            <a:r>
              <a:rPr lang="es-ES" sz="1600" b="1" dirty="0">
                <a:solidFill>
                  <a:srgbClr val="262626"/>
                </a:solidFill>
              </a:rPr>
              <a:t>Data </a:t>
            </a:r>
            <a:r>
              <a:rPr lang="es-ES" sz="1600" b="1" dirty="0" err="1">
                <a:solidFill>
                  <a:srgbClr val="262626"/>
                </a:solidFill>
              </a:rPr>
              <a:t>Science</a:t>
            </a:r>
            <a:r>
              <a:rPr lang="es-ES" sz="1600" b="1" dirty="0">
                <a:solidFill>
                  <a:srgbClr val="262626"/>
                </a:solidFill>
              </a:rPr>
              <a:t> II</a:t>
            </a:r>
            <a:br>
              <a:rPr lang="es-ES" sz="1600" b="1" dirty="0">
                <a:solidFill>
                  <a:srgbClr val="262626"/>
                </a:solidFill>
              </a:rPr>
            </a:br>
            <a:endParaRPr lang="es-ES" sz="1600" dirty="0">
              <a:solidFill>
                <a:srgbClr val="26262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091" y="3147099"/>
            <a:ext cx="3964343" cy="3042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rgbClr val="FFFFFF"/>
                </a:solidFill>
              </a:rPr>
              <a:t>Análisis del impacto macroeconómico en la ejecución del gasto público (2002-2024)</a:t>
            </a:r>
          </a:p>
          <a:p>
            <a:pPr marL="0" indent="0">
              <a:buNone/>
            </a:pPr>
            <a:endParaRPr lang="es-ES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rgbClr val="FFFFFF"/>
                </a:solidFill>
              </a:rPr>
              <a:t>Alumna: Sabrina Benedetto</a:t>
            </a:r>
          </a:p>
          <a:p>
            <a:pPr marL="0" indent="0">
              <a:buNone/>
            </a:pPr>
            <a:r>
              <a:rPr lang="es-ES" b="1" dirty="0">
                <a:solidFill>
                  <a:srgbClr val="FFFFFF"/>
                </a:solidFill>
              </a:rPr>
              <a:t>Comisión 74260</a:t>
            </a:r>
            <a:endParaRPr lang="es-ES" dirty="0">
              <a:solidFill>
                <a:srgbClr val="FFFFFF"/>
              </a:solidFill>
            </a:endParaRPr>
          </a:p>
          <a:p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9995F40-0017-4121-A2C3-7609E2415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640080"/>
            <a:ext cx="301294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1ED7AF4-50EA-41A9-AB72-D0CE9CF00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5579" y="806357"/>
            <a:ext cx="2763774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erecho y CODERHOUSE se unen: alianza estratégica para potenciar la  comunidad con beneficios innovadores - Facultad de Derecho">
            <a:extLst>
              <a:ext uri="{FF2B5EF4-FFF2-40B4-BE49-F238E27FC236}">
                <a16:creationId xmlns:a16="http://schemas.microsoft.com/office/drawing/2014/main" id="{DDA5E542-36A5-BD91-E2A0-5B15E8B3B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9023" y="2687205"/>
            <a:ext cx="2516886" cy="1166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Motivación y Audiencia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257" y="1843590"/>
            <a:ext cx="7097485" cy="3653696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ES" sz="1400" dirty="0">
                <a:solidFill>
                  <a:srgbClr val="404040"/>
                </a:solidFill>
              </a:rPr>
              <a:t>En economías abiertas con alta inflación y TC flexible, existen desvíos entre presupuesto planificado y ejecutado.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400" dirty="0">
                <a:solidFill>
                  <a:srgbClr val="404040"/>
                </a:solidFill>
              </a:rPr>
              <a:t>Impacto: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400" dirty="0">
                <a:solidFill>
                  <a:srgbClr val="404040"/>
                </a:solidFill>
              </a:rPr>
              <a:t>• Asignación de recursos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400" dirty="0">
                <a:solidFill>
                  <a:srgbClr val="404040"/>
                </a:solidFill>
              </a:rPr>
              <a:t>• Efectividad de políticas públicas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400" dirty="0">
                <a:solidFill>
                  <a:srgbClr val="404040"/>
                </a:solidFill>
              </a:rPr>
              <a:t>• Transparencia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400" dirty="0">
                <a:solidFill>
                  <a:srgbClr val="404040"/>
                </a:solidFill>
              </a:rPr>
              <a:t>Audiencia: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400" dirty="0">
                <a:solidFill>
                  <a:srgbClr val="404040"/>
                </a:solidFill>
              </a:rPr>
              <a:t>• Ejecutivos públicos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400" dirty="0">
                <a:solidFill>
                  <a:srgbClr val="404040"/>
                </a:solidFill>
              </a:rPr>
              <a:t>• Organismos de control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400" dirty="0">
                <a:solidFill>
                  <a:srgbClr val="404040"/>
                </a:solidFill>
              </a:rPr>
              <a:t>• Legisladores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400" dirty="0">
                <a:solidFill>
                  <a:srgbClr val="404040"/>
                </a:solidFill>
              </a:rPr>
              <a:t>• Investigadores y OSC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400" dirty="0">
                <a:solidFill>
                  <a:srgbClr val="404040"/>
                </a:solidFill>
              </a:rPr>
              <a:t>• Analistas económicos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Resumen de Datos (Metadata)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1843590"/>
            <a:ext cx="6584634" cy="3326928"/>
          </a:xfrm>
        </p:spPr>
        <p:txBody>
          <a:bodyPr>
            <a:normAutofit fontScale="92500" lnSpcReduction="20000"/>
          </a:bodyPr>
          <a:lstStyle/>
          <a:p>
            <a:r>
              <a:rPr lang="es-ES" b="1" dirty="0">
                <a:solidFill>
                  <a:srgbClr val="404040"/>
                </a:solidFill>
              </a:rPr>
              <a:t>Período </a:t>
            </a:r>
            <a:r>
              <a:rPr lang="es-ES" b="1" dirty="0" err="1">
                <a:solidFill>
                  <a:srgbClr val="404040"/>
                </a:solidFill>
              </a:rPr>
              <a:t>Dataset</a:t>
            </a:r>
            <a:r>
              <a:rPr lang="es-ES" dirty="0">
                <a:solidFill>
                  <a:srgbClr val="404040"/>
                </a:solidFill>
              </a:rPr>
              <a:t>: 2002-2024</a:t>
            </a:r>
          </a:p>
          <a:p>
            <a:r>
              <a:rPr lang="es-ES" b="1" dirty="0">
                <a:solidFill>
                  <a:srgbClr val="404040"/>
                </a:solidFill>
              </a:rPr>
              <a:t>Registros iniciales</a:t>
            </a:r>
            <a:r>
              <a:rPr lang="es-ES" dirty="0">
                <a:solidFill>
                  <a:srgbClr val="404040"/>
                </a:solidFill>
              </a:rPr>
              <a:t>: 2.5M+ registros, 23 años, 57 columnas</a:t>
            </a:r>
          </a:p>
          <a:p>
            <a:r>
              <a:rPr lang="es-ES" dirty="0">
                <a:solidFill>
                  <a:srgbClr val="404040"/>
                </a:solidFill>
              </a:rPr>
              <a:t>Unión de 3 </a:t>
            </a:r>
            <a:r>
              <a:rPr lang="es-ES" dirty="0" err="1">
                <a:solidFill>
                  <a:srgbClr val="404040"/>
                </a:solidFill>
              </a:rPr>
              <a:t>datasets</a:t>
            </a:r>
            <a:endParaRPr lang="es-ES" dirty="0">
              <a:solidFill>
                <a:srgbClr val="404040"/>
              </a:solidFill>
            </a:endParaRPr>
          </a:p>
          <a:p>
            <a:pPr latinLnBrk="1"/>
            <a:r>
              <a:rPr lang="es-ES" b="1" dirty="0">
                <a:solidFill>
                  <a:srgbClr val="404040"/>
                </a:solidFill>
              </a:rPr>
              <a:t>Registros en </a:t>
            </a:r>
            <a:r>
              <a:rPr lang="es-ES" b="1" dirty="0" err="1">
                <a:solidFill>
                  <a:srgbClr val="404040"/>
                </a:solidFill>
              </a:rPr>
              <a:t>dataset</a:t>
            </a:r>
            <a:r>
              <a:rPr lang="es-ES" b="1" dirty="0">
                <a:solidFill>
                  <a:srgbClr val="404040"/>
                </a:solidFill>
              </a:rPr>
              <a:t> final</a:t>
            </a:r>
            <a:r>
              <a:rPr lang="es-ES" dirty="0">
                <a:solidFill>
                  <a:srgbClr val="404040"/>
                </a:solidFill>
              </a:rPr>
              <a:t>: </a:t>
            </a:r>
            <a:r>
              <a:rPr lang="es-AR" dirty="0">
                <a:solidFill>
                  <a:srgbClr val="404040"/>
                </a:solidFill>
              </a:rPr>
              <a:t>45,780, 72 columnas</a:t>
            </a:r>
          </a:p>
          <a:p>
            <a:r>
              <a:rPr lang="es-ES" b="1" dirty="0">
                <a:solidFill>
                  <a:srgbClr val="404040"/>
                </a:solidFill>
              </a:rPr>
              <a:t>Variables</a:t>
            </a:r>
            <a:r>
              <a:rPr lang="es-ES" dirty="0">
                <a:solidFill>
                  <a:srgbClr val="404040"/>
                </a:solidFill>
              </a:rPr>
              <a:t>: crédito presupuestado/devengado, jurisdicción, función</a:t>
            </a:r>
          </a:p>
          <a:p>
            <a:r>
              <a:rPr lang="es-ES" b="1" dirty="0">
                <a:solidFill>
                  <a:srgbClr val="404040"/>
                </a:solidFill>
              </a:rPr>
              <a:t>Variables macro</a:t>
            </a:r>
            <a:r>
              <a:rPr lang="es-ES" dirty="0">
                <a:solidFill>
                  <a:srgbClr val="404040"/>
                </a:solidFill>
              </a:rPr>
              <a:t>: tipo de cambio (TC), IPC, volatilidades</a:t>
            </a:r>
          </a:p>
          <a:p>
            <a:r>
              <a:rPr lang="es-ES" b="1" dirty="0">
                <a:solidFill>
                  <a:srgbClr val="404040"/>
                </a:solidFill>
              </a:rPr>
              <a:t>Fuentes</a:t>
            </a:r>
            <a:r>
              <a:rPr lang="es-ES" dirty="0">
                <a:solidFill>
                  <a:srgbClr val="404040"/>
                </a:solidFill>
              </a:rPr>
              <a:t>: </a:t>
            </a:r>
          </a:p>
          <a:p>
            <a:pPr lvl="1"/>
            <a:r>
              <a:rPr lang="es-ES" dirty="0">
                <a:solidFill>
                  <a:srgbClr val="404040"/>
                </a:solidFill>
              </a:rPr>
              <a:t>Datos.gob.ar, (carga de </a:t>
            </a:r>
            <a:r>
              <a:rPr lang="es-ES" dirty="0" err="1">
                <a:solidFill>
                  <a:srgbClr val="404040"/>
                </a:solidFill>
              </a:rPr>
              <a:t>datasets</a:t>
            </a:r>
            <a:r>
              <a:rPr lang="es-ES" dirty="0">
                <a:solidFill>
                  <a:srgbClr val="404040"/>
                </a:solidFill>
              </a:rPr>
              <a:t> anuales desde la web)</a:t>
            </a:r>
          </a:p>
          <a:p>
            <a:pPr lvl="1"/>
            <a:r>
              <a:rPr lang="es-ES" dirty="0">
                <a:solidFill>
                  <a:srgbClr val="404040"/>
                </a:solidFill>
              </a:rPr>
              <a:t>BCRA (API) </a:t>
            </a:r>
          </a:p>
          <a:p>
            <a:pPr lvl="1"/>
            <a:r>
              <a:rPr lang="es-ES" dirty="0">
                <a:solidFill>
                  <a:srgbClr val="404040"/>
                </a:solidFill>
              </a:rPr>
              <a:t>Bank </a:t>
            </a:r>
            <a:r>
              <a:rPr lang="es-ES" dirty="0" err="1">
                <a:solidFill>
                  <a:srgbClr val="404040"/>
                </a:solidFill>
              </a:rPr>
              <a:t>for</a:t>
            </a:r>
            <a:r>
              <a:rPr lang="es-ES" dirty="0">
                <a:solidFill>
                  <a:srgbClr val="404040"/>
                </a:solidFill>
              </a:rPr>
              <a:t> International </a:t>
            </a:r>
            <a:r>
              <a:rPr lang="es-ES" dirty="0" err="1">
                <a:solidFill>
                  <a:srgbClr val="404040"/>
                </a:solidFill>
              </a:rPr>
              <a:t>Settlements</a:t>
            </a:r>
            <a:r>
              <a:rPr lang="es-ES" dirty="0">
                <a:solidFill>
                  <a:srgbClr val="404040"/>
                </a:solidFill>
              </a:rPr>
              <a:t> – BIS (</a:t>
            </a:r>
            <a:r>
              <a:rPr lang="es-ES" dirty="0" err="1">
                <a:solidFill>
                  <a:srgbClr val="404040"/>
                </a:solidFill>
              </a:rPr>
              <a:t>pd.read_Excel</a:t>
            </a:r>
            <a:r>
              <a:rPr lang="es-ES" dirty="0">
                <a:solidFill>
                  <a:srgbClr val="404040"/>
                </a:solidFill>
              </a:rPr>
              <a:t>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Pregunta e Hipótesis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1"/>
            <a:ext cx="6584634" cy="322779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ES" dirty="0">
                <a:solidFill>
                  <a:srgbClr val="404040"/>
                </a:solidFill>
              </a:rPr>
              <a:t>Pregunta: ¿Se puede predecir la ejecución presupuestaria usando variables macro?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dirty="0">
                <a:solidFill>
                  <a:srgbClr val="404040"/>
                </a:solidFill>
              </a:rPr>
              <a:t>H0: TC e IPC NO influyen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dirty="0">
                <a:solidFill>
                  <a:srgbClr val="404040"/>
                </a:solidFill>
              </a:rPr>
              <a:t>H1: TC e IPC SÍ influyen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dirty="0">
                <a:solidFill>
                  <a:srgbClr val="404040"/>
                </a:solidFill>
              </a:rPr>
              <a:t>Clases: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dirty="0">
                <a:solidFill>
                  <a:srgbClr val="404040"/>
                </a:solidFill>
              </a:rPr>
              <a:t>• Ejecución Normal (CP &gt; 0 y CD &gt; 0 - se planificó y se ejecutó)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dirty="0">
                <a:solidFill>
                  <a:srgbClr val="404040"/>
                </a:solidFill>
              </a:rPr>
              <a:t>• Reasignación (CP = 0 y CD &gt; 0 - no se planificó, pero se ejecutó)</a:t>
            </a:r>
          </a:p>
          <a:p>
            <a:pPr marL="228600" lvl="1" indent="0">
              <a:lnSpc>
                <a:spcPct val="90000"/>
              </a:lnSpc>
              <a:spcAft>
                <a:spcPts val="1200"/>
              </a:spcAft>
              <a:buNone/>
            </a:pPr>
            <a:r>
              <a:rPr lang="es-ES" dirty="0">
                <a:solidFill>
                  <a:srgbClr val="404040"/>
                </a:solidFill>
              </a:rPr>
              <a:t>• Sin Ejecución (CP &gt; 0 y CD = 0 (se planificó, pero no se ejecutó)</a:t>
            </a:r>
          </a:p>
          <a:p>
            <a:pPr marL="228600" lvl="1" indent="0" algn="ctr">
              <a:lnSpc>
                <a:spcPct val="90000"/>
              </a:lnSpc>
              <a:buNone/>
            </a:pPr>
            <a:r>
              <a:rPr lang="es-ES" dirty="0">
                <a:solidFill>
                  <a:srgbClr val="404040"/>
                </a:solidFill>
              </a:rPr>
              <a:t>REASIGNACIÓN Y SIN EJECUCIÓN ➡️ INEFICIENCIA EN LAEJECUCION PRESUPUESTARIA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Distribución de los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404040"/>
                </a:solidFill>
              </a:rPr>
              <a:t>Sin Ejecución: 69%</a:t>
            </a:r>
          </a:p>
          <a:p>
            <a:r>
              <a:rPr lang="es-ES" dirty="0">
                <a:solidFill>
                  <a:srgbClr val="404040"/>
                </a:solidFill>
              </a:rPr>
              <a:t>Reasignación: 26%</a:t>
            </a:r>
          </a:p>
          <a:p>
            <a:r>
              <a:rPr lang="es-ES" dirty="0">
                <a:solidFill>
                  <a:srgbClr val="404040"/>
                </a:solidFill>
              </a:rPr>
              <a:t>Ejecución Normal: 5%</a:t>
            </a:r>
          </a:p>
          <a:p>
            <a:pPr marL="0" indent="0">
              <a:buNone/>
            </a:pPr>
            <a:r>
              <a:rPr lang="es-ES" b="1" dirty="0" err="1">
                <a:solidFill>
                  <a:srgbClr val="404040"/>
                </a:solidFill>
              </a:rPr>
              <a:t>Insight</a:t>
            </a:r>
            <a:r>
              <a:rPr lang="es-ES" dirty="0">
                <a:solidFill>
                  <a:srgbClr val="404040"/>
                </a:solidFill>
              </a:rPr>
              <a:t>: La mayoría de las partidas planificadas no se ejecutan → problema estructural.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Modelo de Clasificación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rgbClr val="404040"/>
                </a:solidFill>
              </a:rPr>
              <a:t>Algoritmo</a:t>
            </a:r>
            <a:r>
              <a:rPr lang="es-ES" dirty="0">
                <a:solidFill>
                  <a:srgbClr val="404040"/>
                </a:solidFill>
              </a:rPr>
              <a:t>: </a:t>
            </a:r>
            <a:r>
              <a:rPr lang="es-ES" dirty="0" err="1">
                <a:solidFill>
                  <a:srgbClr val="404040"/>
                </a:solidFill>
              </a:rPr>
              <a:t>Random</a:t>
            </a:r>
            <a:r>
              <a:rPr lang="es-ES" dirty="0">
                <a:solidFill>
                  <a:srgbClr val="404040"/>
                </a:solidFill>
              </a:rPr>
              <a:t> Forest</a:t>
            </a:r>
          </a:p>
          <a:p>
            <a:r>
              <a:rPr lang="es-ES" b="1" dirty="0">
                <a:solidFill>
                  <a:srgbClr val="404040"/>
                </a:solidFill>
              </a:rPr>
              <a:t>Ventajas</a:t>
            </a:r>
            <a:r>
              <a:rPr lang="es-ES" dirty="0">
                <a:solidFill>
                  <a:srgbClr val="404040"/>
                </a:solidFill>
              </a:rPr>
              <a:t>: capta no linealidad, interacciones complejas</a:t>
            </a:r>
          </a:p>
          <a:p>
            <a:r>
              <a:rPr lang="es-ES" b="1" dirty="0">
                <a:solidFill>
                  <a:srgbClr val="404040"/>
                </a:solidFill>
              </a:rPr>
              <a:t>Métricas</a:t>
            </a:r>
            <a:r>
              <a:rPr lang="es-ES" dirty="0">
                <a:solidFill>
                  <a:srgbClr val="404040"/>
                </a:solidFill>
              </a:rPr>
              <a:t>: F1-macro 47.4%, </a:t>
            </a:r>
            <a:r>
              <a:rPr lang="es-ES" dirty="0" err="1">
                <a:solidFill>
                  <a:srgbClr val="404040"/>
                </a:solidFill>
              </a:rPr>
              <a:t>Accuracy</a:t>
            </a:r>
            <a:r>
              <a:rPr lang="es-ES" dirty="0">
                <a:solidFill>
                  <a:srgbClr val="404040"/>
                </a:solidFill>
              </a:rPr>
              <a:t> 57%</a:t>
            </a:r>
          </a:p>
          <a:p>
            <a:r>
              <a:rPr lang="es-ES" b="1" dirty="0">
                <a:solidFill>
                  <a:srgbClr val="404040"/>
                </a:solidFill>
              </a:rPr>
              <a:t>Comparación con los </a:t>
            </a:r>
            <a:r>
              <a:rPr lang="es-ES" b="1" dirty="0" err="1">
                <a:solidFill>
                  <a:srgbClr val="404040"/>
                </a:solidFill>
              </a:rPr>
              <a:t>algortimos</a:t>
            </a:r>
            <a:r>
              <a:rPr lang="es-ES" b="1" dirty="0">
                <a:solidFill>
                  <a:srgbClr val="404040"/>
                </a:solidFill>
              </a:rPr>
              <a:t> calculados</a:t>
            </a:r>
            <a:r>
              <a:rPr lang="es-ES" dirty="0">
                <a:solidFill>
                  <a:srgbClr val="404040"/>
                </a:solidFill>
              </a:rPr>
              <a:t>:</a:t>
            </a:r>
          </a:p>
        </p:txBody>
      </p:sp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CA0A1032-7D21-F848-3DFB-028E9B45A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954" y="3910952"/>
            <a:ext cx="6799817" cy="148616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dirty="0" err="1"/>
              <a:t>Importancia</a:t>
            </a:r>
            <a:r>
              <a:rPr dirty="0"/>
              <a:t> de Variables</a:t>
            </a:r>
            <a:br>
              <a:rPr lang="es-ES" dirty="0"/>
            </a:br>
            <a:r>
              <a:rPr lang="es-ES" sz="2000" i="1" dirty="0"/>
              <a:t>(</a:t>
            </a:r>
            <a:r>
              <a:rPr lang="es-ES" sz="2000" i="1" dirty="0" err="1"/>
              <a:t>Feature</a:t>
            </a:r>
            <a:r>
              <a:rPr lang="es-ES" sz="2000" i="1" dirty="0"/>
              <a:t> </a:t>
            </a:r>
            <a:r>
              <a:rPr lang="es-ES" sz="2000" i="1" dirty="0" err="1"/>
              <a:t>importance</a:t>
            </a:r>
            <a:r>
              <a:rPr lang="es-ES" sz="2000" i="1" dirty="0"/>
              <a:t>)</a:t>
            </a:r>
            <a:endParaRPr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ES" sz="1700" dirty="0">
                <a:solidFill>
                  <a:srgbClr val="404040"/>
                </a:solidFill>
              </a:rPr>
              <a:t>Institucionales (~47%):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sz="1500" dirty="0">
                <a:solidFill>
                  <a:srgbClr val="404040"/>
                </a:solidFill>
              </a:rPr>
              <a:t>• Obligaciones Tesoro 14.6%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sz="1500" dirty="0">
                <a:solidFill>
                  <a:srgbClr val="404040"/>
                </a:solidFill>
              </a:rPr>
              <a:t>• Servicios Sociales 8.8%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sz="1500" dirty="0">
                <a:solidFill>
                  <a:srgbClr val="404040"/>
                </a:solidFill>
              </a:rPr>
              <a:t>• </a:t>
            </a:r>
            <a:r>
              <a:rPr lang="es-ES" sz="1500" dirty="0" err="1">
                <a:solidFill>
                  <a:srgbClr val="404040"/>
                </a:solidFill>
              </a:rPr>
              <a:t>Adm</a:t>
            </a:r>
            <a:r>
              <a:rPr lang="es-ES" sz="1500" dirty="0">
                <a:solidFill>
                  <a:srgbClr val="404040"/>
                </a:solidFill>
              </a:rPr>
              <a:t>. Gubernamental 7.7%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700" dirty="0">
                <a:solidFill>
                  <a:srgbClr val="404040"/>
                </a:solidFill>
              </a:rPr>
              <a:t>Macroeconómicas (~20%):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sz="1500" dirty="0">
                <a:solidFill>
                  <a:srgbClr val="404040"/>
                </a:solidFill>
              </a:rPr>
              <a:t>• Vol. IPC 5.2%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sz="1500" dirty="0">
                <a:solidFill>
                  <a:srgbClr val="404040"/>
                </a:solidFill>
              </a:rPr>
              <a:t>• Inflación anual 5.0%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sz="1500" dirty="0">
                <a:solidFill>
                  <a:srgbClr val="404040"/>
                </a:solidFill>
              </a:rPr>
              <a:t>• Variación TC 4.5%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Hallazgos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rgbClr val="404040"/>
                </a:solidFill>
              </a:rPr>
              <a:t>1. </a:t>
            </a:r>
            <a:r>
              <a:rPr lang="es-ES" b="1" dirty="0">
                <a:solidFill>
                  <a:srgbClr val="404040"/>
                </a:solidFill>
              </a:rPr>
              <a:t>Se rechaza H0</a:t>
            </a:r>
          </a:p>
          <a:p>
            <a:pPr marL="0" indent="0">
              <a:buNone/>
            </a:pPr>
            <a:r>
              <a:rPr lang="es-ES" dirty="0">
                <a:solidFill>
                  <a:srgbClr val="404040"/>
                </a:solidFill>
              </a:rPr>
              <a:t>2. Factor institucional = macro</a:t>
            </a:r>
          </a:p>
          <a:p>
            <a:pPr marL="0" indent="0">
              <a:buNone/>
            </a:pPr>
            <a:r>
              <a:rPr lang="es-ES" dirty="0">
                <a:solidFill>
                  <a:srgbClr val="404040"/>
                </a:solidFill>
              </a:rPr>
              <a:t>3. Confusión entre ineficiencias</a:t>
            </a:r>
          </a:p>
          <a:p>
            <a:pPr marL="0" indent="0">
              <a:buNone/>
            </a:pPr>
            <a:r>
              <a:rPr lang="es-ES" dirty="0">
                <a:solidFill>
                  <a:srgbClr val="404040"/>
                </a:solidFill>
              </a:rPr>
              <a:t>4. Variabilidad no explicada ~57% (gestión/política)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Aplicaciones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 lnSpcReduction="10000"/>
          </a:bodyPr>
          <a:lstStyle/>
          <a:p>
            <a:r>
              <a:rPr lang="es-ES" dirty="0">
                <a:solidFill>
                  <a:srgbClr val="404040"/>
                </a:solidFill>
              </a:rPr>
              <a:t>Limitaciones del modelo: sirve para </a:t>
            </a:r>
            <a:r>
              <a:rPr lang="es-ES" b="1" dirty="0">
                <a:solidFill>
                  <a:srgbClr val="404040"/>
                </a:solidFill>
              </a:rPr>
              <a:t>identificar riesgo </a:t>
            </a:r>
            <a:r>
              <a:rPr lang="es-ES" dirty="0">
                <a:solidFill>
                  <a:srgbClr val="404040"/>
                </a:solidFill>
              </a:rPr>
              <a:t>de ineficiencia (NO para predecir ejecución).</a:t>
            </a:r>
          </a:p>
          <a:p>
            <a:r>
              <a:rPr lang="es-ES" b="1" dirty="0">
                <a:solidFill>
                  <a:srgbClr val="404040"/>
                </a:solidFill>
              </a:rPr>
              <a:t>Aplicaciones</a:t>
            </a:r>
            <a:r>
              <a:rPr lang="es-ES" dirty="0">
                <a:solidFill>
                  <a:srgbClr val="404040"/>
                </a:solidFill>
              </a:rPr>
              <a:t>:</a:t>
            </a:r>
          </a:p>
          <a:p>
            <a:pPr marL="228600" lvl="1" indent="0">
              <a:buNone/>
            </a:pPr>
            <a:r>
              <a:rPr lang="es-ES" dirty="0">
                <a:solidFill>
                  <a:srgbClr val="404040"/>
                </a:solidFill>
              </a:rPr>
              <a:t>• Planificación</a:t>
            </a:r>
          </a:p>
          <a:p>
            <a:pPr marL="228600" lvl="1" indent="0">
              <a:buNone/>
            </a:pPr>
            <a:r>
              <a:rPr lang="es-ES" dirty="0">
                <a:solidFill>
                  <a:srgbClr val="404040"/>
                </a:solidFill>
              </a:rPr>
              <a:t>• Control auditor</a:t>
            </a:r>
          </a:p>
          <a:p>
            <a:pPr marL="228600" lvl="1" indent="0">
              <a:buNone/>
            </a:pPr>
            <a:r>
              <a:rPr lang="es-ES" dirty="0">
                <a:solidFill>
                  <a:srgbClr val="404040"/>
                </a:solidFill>
              </a:rPr>
              <a:t>• Evaluación</a:t>
            </a:r>
          </a:p>
          <a:p>
            <a:pPr marL="228600" lvl="1" indent="0">
              <a:buNone/>
            </a:pPr>
            <a:r>
              <a:rPr lang="es-ES" dirty="0">
                <a:solidFill>
                  <a:srgbClr val="404040"/>
                </a:solidFill>
              </a:rPr>
              <a:t>• Transparencia</a:t>
            </a:r>
          </a:p>
          <a:p>
            <a:r>
              <a:rPr lang="es-ES" b="1" dirty="0">
                <a:solidFill>
                  <a:srgbClr val="404040"/>
                </a:solidFill>
              </a:rPr>
              <a:t>Recomendación</a:t>
            </a:r>
            <a:r>
              <a:rPr lang="es-ES" dirty="0">
                <a:solidFill>
                  <a:srgbClr val="404040"/>
                </a:solidFill>
              </a:rPr>
              <a:t>: agregar variables cualitativas.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Conclusiones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700" b="1" dirty="0">
                <a:solidFill>
                  <a:srgbClr val="404040"/>
                </a:solidFill>
              </a:rPr>
              <a:t>Conclusiones</a:t>
            </a:r>
            <a:r>
              <a:rPr lang="es-ES" sz="1700" dirty="0">
                <a:solidFill>
                  <a:srgbClr val="404040"/>
                </a:solidFill>
              </a:rPr>
              <a:t>: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sz="1500" dirty="0">
                <a:solidFill>
                  <a:srgbClr val="404040"/>
                </a:solidFill>
              </a:rPr>
              <a:t>• TC/IPC influyen (~20%)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sz="1500" dirty="0">
                <a:solidFill>
                  <a:srgbClr val="404040"/>
                </a:solidFill>
              </a:rPr>
              <a:t>• Factor Institucional también importa (en igualdad de importancia)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sz="1500" dirty="0">
                <a:solidFill>
                  <a:srgbClr val="404040"/>
                </a:solidFill>
              </a:rPr>
              <a:t>• Modelo explica ~47% variabilidad</a:t>
            </a:r>
          </a:p>
          <a:p>
            <a:pPr>
              <a:lnSpc>
                <a:spcPct val="90000"/>
              </a:lnSpc>
            </a:pPr>
            <a:r>
              <a:rPr lang="es-ES" sz="1700" dirty="0">
                <a:solidFill>
                  <a:srgbClr val="404040"/>
                </a:solidFill>
              </a:rPr>
              <a:t>Pasos: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sz="1500" dirty="0">
                <a:solidFill>
                  <a:srgbClr val="404040"/>
                </a:solidFill>
              </a:rPr>
              <a:t>• Modelo 2: magnitud del desvío (ratio CD/CP)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sz="1500" dirty="0">
                <a:solidFill>
                  <a:srgbClr val="404040"/>
                </a:solidFill>
              </a:rPr>
              <a:t>• Incorporar variables cualitativas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s-ES" sz="1500" dirty="0">
                <a:solidFill>
                  <a:srgbClr val="404040"/>
                </a:solidFill>
              </a:rPr>
              <a:t>• Aplicar a presupuesto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quete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aque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TM10001115[[fn=Paquete]]</Template>
  <TotalTime>24</TotalTime>
  <Words>509</Words>
  <Application>Microsoft Office PowerPoint</Application>
  <PresentationFormat>Presentación en pantalla (4:3)</PresentationFormat>
  <Paragraphs>78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Paquete</vt:lpstr>
      <vt:lpstr>Predicción de Eficiencia Presupuestaria en Argentina mediante Machine Learning   Curso Data Science II </vt:lpstr>
      <vt:lpstr>Motivación y Audiencia</vt:lpstr>
      <vt:lpstr>Resumen de Datos (Metadata)</vt:lpstr>
      <vt:lpstr>Pregunta e Hipótesis</vt:lpstr>
      <vt:lpstr>Distribución de los Datos</vt:lpstr>
      <vt:lpstr>Modelo de Clasificación</vt:lpstr>
      <vt:lpstr>Importancia de Variables (Feature importance)</vt:lpstr>
      <vt:lpstr>Hallazgos Principales</vt:lpstr>
      <vt:lpstr>Aplicaciones Prácticas</vt:lpstr>
      <vt:lpstr>Conclusiones y Próximos Pasos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Sabrina Benedetto</dc:creator>
  <cp:keywords/>
  <dc:description>generated using python-pptx</dc:description>
  <cp:lastModifiedBy>Sabrina Benedetto</cp:lastModifiedBy>
  <cp:revision>2</cp:revision>
  <dcterms:created xsi:type="dcterms:W3CDTF">2013-01-27T09:14:16Z</dcterms:created>
  <dcterms:modified xsi:type="dcterms:W3CDTF">2025-12-12T22:30:53Z</dcterms:modified>
  <cp:category/>
</cp:coreProperties>
</file>